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63500" cy="4114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Physics-Informed Online Machine Learning</a:t>
            </a:r>
          </a:p>
          <a:p>
            <a:pPr>
              <a:spcBef>
                <a:spcPts val="400"/>
              </a:spcBef>
              <a:defRPr sz="3400" b="1">
                <a:solidFill>
                  <a:srgbClr val="00B4D8"/>
                </a:solidFill>
              </a:defRPr>
            </a:pPr>
            <a:r>
              <a:t>for Model Predictive Control of Nonlinear Processes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926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AC3E6"/>
                </a:solidFill>
              </a:defRPr>
            </a:pPr>
            <a:r>
              <a:t>Reproduction &amp; Validation of PIRNN-LMPC Framework (Zheng &amp; Wu, I&amp;EC Research 2024)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657600"/>
            <a:ext cx="32004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9776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Devan Singh Faujdar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3616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C3E6"/>
                </a:solidFill>
              </a:defRPr>
            </a:pPr>
            <a:r>
              <a:t>Indian Institute of Technology Kharagpur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74573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8296"/>
                </a:solidFill>
              </a:defRPr>
            </a:pPr>
            <a:r>
              <a:t>Department of Chemical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129783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8296"/>
                </a:solidFill>
              </a:defRPr>
            </a:pPr>
            <a:r>
              <a:t>August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931920"/>
            <a:ext cx="3200400" cy="1828800"/>
          </a:xfrm>
          <a:prstGeom prst="roundRect">
            <a:avLst/>
          </a:prstGeom>
          <a:solidFill>
            <a:srgbClr val="0C193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00B4D8"/>
                </a:solidFill>
              </a:defRPr>
            </a:pPr>
            <a:r>
              <a:t>Target System</a:t>
            </a:r>
          </a:p>
          <a:p>
            <a:pPr>
              <a:spcAft>
                <a:spcPts val="600"/>
              </a:spcAft>
              <a:defRPr sz="1700" b="1">
                <a:solidFill>
                  <a:srgbClr val="FFFFFF"/>
                </a:solidFill>
              </a:defRPr>
            </a:pPr>
            <a:r>
              <a:t>Continuous Stirred-Tank</a:t>
            </a:r>
            <a:br/>
            <a:r>
              <a:t>Reactor (CSTR)</a:t>
            </a:r>
          </a:p>
          <a:p>
            <a:pPr>
              <a:defRPr sz="1200">
                <a:solidFill>
                  <a:srgbClr val="AAC3E6"/>
                </a:solidFill>
              </a:defRPr>
            </a:pPr>
            <a:r>
              <a:t>with Parameter Drift &amp; Uncertainty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9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25603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64C8"/>
                </a:solidFill>
              </a:defRPr>
            </a:pPr>
            <a:r>
              <a:t>MASTER TRAINING PROJECT  •  IIT KHARAGPUR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C193A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5912" cy="25400"/>
          </a:xfrm>
          <a:prstGeom prst="rect">
            <a:avLst/>
          </a:prstGeom>
          <a:solidFill>
            <a:srgbClr val="788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303520" cy="4846320"/>
          </a:xfrm>
          <a:prstGeom prst="roundRect">
            <a:avLst/>
          </a:prstGeom>
          <a:solidFill>
            <a:srgbClr val="FFF5EB"/>
          </a:solidFill>
          <a:ln w="1524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1200"/>
              </a:spcAft>
              <a:defRPr sz="1800" b="1">
                <a:solidFill>
                  <a:srgbClr val="0C193A"/>
                </a:solidFill>
              </a:defRPr>
            </a:pPr>
            <a:r>
              <a:t>The Challenge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⚠  Data-driven surrogate models degrade when plant parameters drift from training conditions.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⚠  Standard Neural Networks lack physical consistency — violate mass &amp; energy conservation.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⚠  Re-training from scratch is too slow for real-time MPC (needs &lt; 36s sampling period).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⚠  Need: A model that adapts online while respecting first-principles physics.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4846320"/>
          </a:xfrm>
          <a:prstGeom prst="roundRect">
            <a:avLst/>
          </a:prstGeom>
          <a:solidFill>
            <a:srgbClr val="E6F8F0"/>
          </a:solidFill>
          <a:ln w="15240">
            <a:solidFill>
              <a:srgbClr val="22B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1200"/>
              </a:spcAft>
              <a:defRPr sz="1800" b="1">
                <a:solidFill>
                  <a:srgbClr val="0C193A"/>
                </a:solidFill>
              </a:defRPr>
            </a:pPr>
            <a:r>
              <a:t>Our Approach: PIRNN-LMPC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✓  Physics-Informed RNN embeds CSTR ODEs directly into the loss function as soft constraints.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✓  Error-triggered mechanism monitors prediction quality in real time.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✓  Online adaptation: jointly re-estimates model weights AND uncertain parameters (F, k₀).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✓  Lyapunov-based MPC guarantees closed-loop stability.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9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25603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64C8"/>
                </a:solidFill>
              </a:defRPr>
            </a:pPr>
            <a:r>
              <a:t>MASTER TRAINING PROJECT  •  IIT KHARAGPUR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C193A"/>
                </a:solidFill>
              </a:defRPr>
            </a:pPr>
            <a:r>
              <a:t>CSTR Process Model &amp; Governing Equations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5912" cy="25400"/>
          </a:xfrm>
          <a:prstGeom prst="rect">
            <a:avLst/>
          </a:prstGeom>
          <a:solidFill>
            <a:srgbClr val="788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858000" cy="2926080"/>
          </a:xfrm>
          <a:prstGeom prst="roundRect">
            <a:avLst/>
          </a:prstGeom>
          <a:solidFill>
            <a:srgbClr val="E6EDF8"/>
          </a:solidFill>
          <a:ln w="15240">
            <a:solidFill>
              <a:srgbClr val="1E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1400"/>
              </a:spcAft>
              <a:defRPr sz="1800" b="1">
                <a:solidFill>
                  <a:srgbClr val="0C193A"/>
                </a:solidFill>
              </a:defRPr>
            </a:pPr>
            <a:r>
              <a:t>Governing ODEs (Eq. 14a &amp; 14b)</a:t>
            </a:r>
          </a:p>
          <a:p>
            <a:pPr>
              <a:spcAft>
                <a:spcPts val="400"/>
              </a:spcAft>
              <a:defRPr sz="1300" b="1">
                <a:solidFill>
                  <a:srgbClr val="373C48"/>
                </a:solidFill>
                <a:latin typeface="Courier New"/>
              </a:defRPr>
            </a:pPr>
            <a:r>
              <a:t>dCₐ/dt  =  (F / V) · (Cₐ₀ − Cₐ)  −  k₀ · exp(−E / RT) · Cₐ²</a:t>
            </a:r>
          </a:p>
          <a:p>
            <a:pPr>
              <a:spcAft>
                <a:spcPts val="400"/>
              </a:spcAft>
              <a:defRPr sz="1300">
                <a:solidFill>
                  <a:srgbClr val="373C48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373C48"/>
                </a:solidFill>
                <a:latin typeface="Courier New"/>
              </a:defRPr>
            </a:pPr>
            <a:r>
              <a:t>dT/dt   =  (F / V) · (T₀ − T)  +  (−ΔH / ρCₚ) · k₀ · exp(−E / RT) · Cₐ²  +  Q / (ρCₚV)</a:t>
            </a:r>
          </a:p>
          <a:p>
            <a:pPr>
              <a:spcAft>
                <a:spcPts val="400"/>
              </a:spcAft>
              <a:defRPr sz="1300">
                <a:solidFill>
                  <a:srgbClr val="373C48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73C48"/>
                </a:solidFill>
              </a:defRPr>
            </a:pPr>
            <a:r>
              <a:t>States:   x = [ΔCₐ, ΔT]    (deviations from steady state)</a:t>
            </a:r>
          </a:p>
          <a:p>
            <a:pPr>
              <a:spcAft>
                <a:spcPts val="400"/>
              </a:spcAft>
              <a:defRPr sz="1300">
                <a:solidFill>
                  <a:srgbClr val="373C48"/>
                </a:solidFill>
              </a:defRPr>
            </a:pPr>
            <a:r>
              <a:t>Inputs:   u = [ΔCₐ₀, ΔQ]    (control deviations)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463040"/>
            <a:ext cx="3502152" cy="2926080"/>
          </a:xfrm>
          <a:prstGeom prst="roundRect">
            <a:avLst/>
          </a:prstGeom>
          <a:solidFill>
            <a:srgbClr val="0C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00B4D8"/>
                </a:solidFill>
              </a:defRPr>
            </a:pPr>
            <a:r>
              <a:t>Process Parameters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    F₀  =  5.0 m³/h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     V  =  1.0 m³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    k₀  =  8.46 × 10⁶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     E  =  5.0 × 10⁴ kJ/kmol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    T₀  =  300 K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    ΔH  =  −1.15 × 10⁴ kJ/kmol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   ρ_L  =  1000 kg/m³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    Cₚ  =  0.231 kJ/(kg·K)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5303520" cy="1645920"/>
          </a:xfrm>
          <a:prstGeom prst="roundRect">
            <a:avLst/>
          </a:prstGeom>
          <a:solidFill>
            <a:srgbClr val="E6F8F0"/>
          </a:solidFill>
          <a:ln w="15240">
            <a:solidFill>
              <a:srgbClr val="22B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800"/>
              </a:spcAft>
              <a:defRPr sz="1600" b="1">
                <a:solidFill>
                  <a:srgbClr val="0C193A"/>
                </a:solidFill>
              </a:defRPr>
            </a:pPr>
            <a:r>
              <a:t>Steady-State Operating Point</a:t>
            </a:r>
          </a:p>
          <a:p>
            <a:pPr>
              <a:spcAft>
                <a:spcPts val="400"/>
              </a:spcAft>
              <a:defRPr sz="1200">
                <a:solidFill>
                  <a:srgbClr val="373C48"/>
                </a:solidFill>
              </a:defRPr>
            </a:pPr>
            <a:r>
              <a:t>Cₐₛ = 1.95 kmol/m³    |    Tₛ = 402.0 K    |    Cₐ₀ₛ = 4.0 kmol/m³    |    Qₛ = 0.0 kJ/h</a:t>
            </a:r>
          </a:p>
          <a:p>
            <a:pPr>
              <a:spcAft>
                <a:spcPts val="400"/>
              </a:spcAft>
              <a:defRPr sz="1200">
                <a:solidFill>
                  <a:srgbClr val="373C48"/>
                </a:solidFill>
              </a:defRPr>
            </a:pPr>
            <a:r>
              <a:t>Control Bounds:  |ΔCₐ₀| ≤ 3.5 kmol/m³,    |ΔQ| ≤ 5 × 10⁵ kJ/h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663440"/>
            <a:ext cx="5056632" cy="1645920"/>
          </a:xfrm>
          <a:prstGeom prst="roundRect">
            <a:avLst/>
          </a:prstGeom>
          <a:solidFill>
            <a:srgbClr val="FFF0F0"/>
          </a:solidFill>
          <a:ln w="15240"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800"/>
              </a:spcAft>
              <a:defRPr sz="1600" b="1">
                <a:solidFill>
                  <a:srgbClr val="0C193A"/>
                </a:solidFill>
              </a:defRPr>
            </a:pPr>
            <a:r>
              <a:t>Disturbance Schedule</a:t>
            </a:r>
          </a:p>
          <a:p>
            <a:pPr>
              <a:spcAft>
                <a:spcPts val="400"/>
              </a:spcAft>
              <a:defRPr sz="1200">
                <a:solidFill>
                  <a:srgbClr val="373C48"/>
                </a:solidFill>
              </a:defRPr>
            </a:pPr>
            <a:r>
              <a:t>t = 0.09 h:  F → 8.0 m³/h (160%)    k₀ → 6.77×10⁶ (80%)    [Moderate]</a:t>
            </a:r>
          </a:p>
          <a:p>
            <a:pPr>
              <a:spcAft>
                <a:spcPts val="400"/>
              </a:spcAft>
              <a:defRPr sz="1200">
                <a:solidFill>
                  <a:srgbClr val="373C48"/>
                </a:solidFill>
              </a:defRPr>
            </a:pPr>
            <a:r>
              <a:t>t = 0.19 h:  F → 11.5 m³/h (230%)   k₀ → 2.54×10⁶ (30%)    [Severe]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9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25603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64C8"/>
                </a:solidFill>
              </a:defRPr>
            </a:pPr>
            <a:r>
              <a:t>MASTER TRAINING PROJECT  •  IIT KHARAGPUR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C193A"/>
                </a:solidFill>
              </a:defRPr>
            </a:pPr>
            <a:r>
              <a:t>PIRNN Model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5912" cy="25400"/>
          </a:xfrm>
          <a:prstGeom prst="rect">
            <a:avLst/>
          </a:prstGeom>
          <a:solidFill>
            <a:srgbClr val="788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7315200" cy="2560320"/>
          </a:xfrm>
          <a:prstGeom prst="roundRect">
            <a:avLst/>
          </a:prstGeom>
          <a:solidFill>
            <a:srgbClr val="E6EDF8"/>
          </a:solidFill>
          <a:ln w="15240">
            <a:solidFill>
              <a:srgbClr val="1E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1400"/>
              </a:spcAft>
              <a:defRPr sz="1600" b="1">
                <a:solidFill>
                  <a:srgbClr val="0C193A"/>
                </a:solidFill>
              </a:defRPr>
            </a:pPr>
            <a:r>
              <a:t>Data Flow:  Input → Encoder → Recurrent Core → Decoder → Output</a:t>
            </a:r>
          </a:p>
          <a:p>
            <a:pPr>
              <a:spcAft>
                <a:spcPts val="300"/>
              </a:spcAft>
              <a:defRPr sz="1200">
                <a:solidFill>
                  <a:srgbClr val="373C48"/>
                </a:solidFill>
                <a:latin typeface="Courier New"/>
              </a:defRPr>
            </a:pPr>
            <a:r>
              <a:t>         Input  │  [x₀, u] ∈ ℝ⁴  →  initial state deviation (2) + control deviation (2)</a:t>
            </a:r>
          </a:p>
          <a:p>
            <a:pPr>
              <a:spcAft>
                <a:spcPts val="300"/>
              </a:spcAft>
              <a:defRPr sz="1200">
                <a:solidFill>
                  <a:srgbClr val="373C48"/>
                </a:solidFill>
                <a:latin typeface="Courier New"/>
              </a:defRPr>
            </a:pPr>
            <a:r>
              <a:t>       Encoder  │  Linear(4→64) → Tanh → Linear(64→64) → Tanh</a:t>
            </a:r>
          </a:p>
          <a:p>
            <a:pPr>
              <a:spcAft>
                <a:spcPts val="300"/>
              </a:spcAft>
              <a:defRPr sz="1200">
                <a:solidFill>
                  <a:srgbClr val="373C48"/>
                </a:solidFill>
                <a:latin typeface="Courier New"/>
              </a:defRPr>
            </a:pPr>
            <a:r>
              <a:t>      GRU Cell  │  GRUCell(64, 64) applied 10 times  —  self-recurrent: h = GRU(h, h)</a:t>
            </a:r>
          </a:p>
          <a:p>
            <a:pPr>
              <a:spcAft>
                <a:spcPts val="300"/>
              </a:spcAft>
              <a:defRPr sz="1200">
                <a:solidFill>
                  <a:srgbClr val="373C48"/>
                </a:solidFill>
                <a:latin typeface="Courier New"/>
              </a:defRPr>
            </a:pPr>
            <a:r>
              <a:t>       Decoder  │  Linear(64→32) → Tanh → Linear(32→2)</a:t>
            </a:r>
          </a:p>
          <a:p>
            <a:pPr>
              <a:spcAft>
                <a:spcPts val="300"/>
              </a:spcAft>
              <a:defRPr sz="1200">
                <a:solidFill>
                  <a:srgbClr val="373C48"/>
                </a:solidFill>
                <a:latin typeface="Courier New"/>
              </a:defRPr>
            </a:pPr>
            <a:r>
              <a:t>      Residual  │  xₜ₊₁ = xₜ + δ(hₜ)   — each sub-step adds learned increment</a:t>
            </a:r>
          </a:p>
          <a:p>
            <a:pPr>
              <a:spcAft>
                <a:spcPts val="300"/>
              </a:spcAft>
              <a:defRPr sz="1200">
                <a:solidFill>
                  <a:srgbClr val="373C48"/>
                </a:solidFill>
                <a:latin typeface="Courier New"/>
              </a:defRPr>
            </a:pPr>
            <a:r>
              <a:t>        Output  │  Trajectory tensor: (batch, 11, 2)  — 10 sub-steps + initial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463040"/>
            <a:ext cx="3044952" cy="2560320"/>
          </a:xfrm>
          <a:prstGeom prst="roundRect">
            <a:avLst/>
          </a:prstGeom>
          <a:solidFill>
            <a:srgbClr val="0C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00B4D8"/>
                </a:solidFill>
              </a:defRPr>
            </a:pPr>
            <a:r>
              <a:t>Parameter Count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ourier New"/>
              </a:defRPr>
            </a:pPr>
            <a:r>
              <a:t>Encoder         4,544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ourier New"/>
              </a:defRPr>
            </a:pPr>
            <a:r>
              <a:t>GRU Cell       24,960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ourier New"/>
              </a:defRPr>
            </a:pPr>
            <a:r>
              <a:t>Decoder         2,082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ourier New"/>
              </a:defRPr>
            </a:pPr>
            <a:r>
              <a:t>─────────      ──────</a:t>
            </a:r>
          </a:p>
          <a:p>
            <a:pPr>
              <a:spcAft>
                <a:spcPts val="300"/>
              </a:spcAft>
              <a:defRPr sz="1200" b="1">
                <a:solidFill>
                  <a:srgbClr val="00B4D8"/>
                </a:solidFill>
                <a:latin typeface="Courier New"/>
              </a:defRPr>
            </a:pPr>
            <a:r>
              <a:t>TOTAL          31,586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5303520" cy="2011680"/>
          </a:xfrm>
          <a:prstGeom prst="roundRect">
            <a:avLst/>
          </a:prstGeom>
          <a:solidFill>
            <a:srgbClr val="FFF5EB"/>
          </a:solidFill>
          <a:ln w="1524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0C193A"/>
                </a:solidFill>
              </a:defRPr>
            </a:pPr>
            <a:r>
              <a:t>Hybrid Loss Function (Eq. 5 &amp; 7)</a:t>
            </a:r>
          </a:p>
          <a:p>
            <a:pPr>
              <a:spcAft>
                <a:spcPts val="300"/>
              </a:spcAft>
              <a:defRPr sz="1400" b="1">
                <a:solidFill>
                  <a:srgbClr val="373C48"/>
                </a:solidFill>
                <a:latin typeface="Courier New"/>
              </a:defRPr>
            </a:pPr>
            <a:r>
              <a:t>L_total  =  L_data  +  η · L_physics</a:t>
            </a:r>
          </a:p>
          <a:p>
            <a:pPr>
              <a:spcAft>
                <a:spcPts val="300"/>
              </a:spcAft>
              <a:defRPr sz="1200">
                <a:solidFill>
                  <a:srgbClr val="373C48"/>
                </a:solidFill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73C48"/>
                </a:solidFill>
              </a:defRPr>
            </a:pPr>
            <a:r>
              <a:t>L_data:    MSE between predicted &amp; RK4-generated trajectories</a:t>
            </a:r>
          </a:p>
          <a:p>
            <a:pPr>
              <a:spcAft>
                <a:spcPts val="300"/>
              </a:spcAft>
              <a:defRPr sz="1200">
                <a:solidFill>
                  <a:srgbClr val="373C48"/>
                </a:solidFill>
              </a:defRPr>
            </a:pPr>
            <a:r>
              <a:t>L_physics: Residual of CSTR ODEs via finite differences</a:t>
            </a:r>
          </a:p>
          <a:p>
            <a:pPr>
              <a:spcAft>
                <a:spcPts val="300"/>
              </a:spcAft>
              <a:defRPr sz="1200">
                <a:solidFill>
                  <a:srgbClr val="373C48"/>
                </a:solidFill>
              </a:defRPr>
            </a:pPr>
            <a:r>
              <a:t>η = 0.1    (physics loss weight coefficient)</a:t>
            </a:r>
          </a:p>
          <a:p>
            <a:pPr>
              <a:spcAft>
                <a:spcPts val="300"/>
              </a:spcAft>
              <a:defRPr sz="1200">
                <a:solidFill>
                  <a:srgbClr val="373C48"/>
                </a:solidFill>
              </a:defRPr>
            </a:pPr>
            <a:r>
              <a:t>Temp residuals scaled by 1/100 for magnitude balance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297680"/>
            <a:ext cx="5056632" cy="2011680"/>
          </a:xfrm>
          <a:prstGeom prst="roundRect">
            <a:avLst/>
          </a:prstGeom>
          <a:solidFill>
            <a:srgbClr val="E6EDF8"/>
          </a:solidFill>
          <a:ln w="15240">
            <a:solidFill>
              <a:srgbClr val="1E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0C193A"/>
                </a:solidFill>
              </a:defRPr>
            </a:pPr>
            <a:r>
              <a:t>Training Configuration</a:t>
            </a:r>
          </a:p>
          <a:p>
            <a:pPr>
              <a:spcAft>
                <a:spcPts val="300"/>
              </a:spcAft>
              <a:defRPr sz="1100">
                <a:solidFill>
                  <a:srgbClr val="373C48"/>
                </a:solidFill>
              </a:defRPr>
            </a:pPr>
            <a:r>
              <a:t>  Collocation Data: 80,000 trajectories (200 states × 400 inputs)</a:t>
            </a:r>
          </a:p>
          <a:p>
            <a:pPr>
              <a:spcAft>
                <a:spcPts val="300"/>
              </a:spcAft>
              <a:defRPr sz="1100">
                <a:solidFill>
                  <a:srgbClr val="373C48"/>
                </a:solidFill>
              </a:defRPr>
            </a:pPr>
            <a:r>
              <a:t>  Integration: Vectorized PyTorch RK4 — generated in &lt; 0.5s</a:t>
            </a:r>
          </a:p>
          <a:p>
            <a:pPr>
              <a:spcAft>
                <a:spcPts val="300"/>
              </a:spcAft>
              <a:defRPr sz="1100">
                <a:solidFill>
                  <a:srgbClr val="373C48"/>
                </a:solidFill>
              </a:defRPr>
            </a:pPr>
            <a:r>
              <a:t>  Split: 60% train / 20% val / 20% test</a:t>
            </a:r>
          </a:p>
          <a:p>
            <a:pPr>
              <a:spcAft>
                <a:spcPts val="300"/>
              </a:spcAft>
              <a:defRPr sz="1100">
                <a:solidFill>
                  <a:srgbClr val="373C48"/>
                </a:solidFill>
              </a:defRPr>
            </a:pPr>
            <a:r>
              <a:t>  Optimizer: Adam, lr = 1×10⁻³</a:t>
            </a:r>
          </a:p>
          <a:p>
            <a:pPr>
              <a:spcAft>
                <a:spcPts val="300"/>
              </a:spcAft>
              <a:defRPr sz="1100">
                <a:solidFill>
                  <a:srgbClr val="373C48"/>
                </a:solidFill>
              </a:defRPr>
            </a:pPr>
            <a:r>
              <a:t>  Batch Size: 2,048</a:t>
            </a:r>
          </a:p>
          <a:p>
            <a:pPr>
              <a:spcAft>
                <a:spcPts val="300"/>
              </a:spcAft>
              <a:defRPr sz="1100">
                <a:solidFill>
                  <a:srgbClr val="373C48"/>
                </a:solidFill>
              </a:defRPr>
            </a:pPr>
            <a:r>
              <a:t>  Epochs: 10 (early stopping, patience = 5)</a:t>
            </a:r>
          </a:p>
          <a:p>
            <a:pPr>
              <a:spcAft>
                <a:spcPts val="300"/>
              </a:spcAft>
              <a:defRPr sz="1100">
                <a:solidFill>
                  <a:srgbClr val="373C48"/>
                </a:solidFill>
              </a:defRPr>
            </a:pPr>
            <a:r>
              <a:t>  Device: Apple MPS (Metal GPU)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9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25603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64C8"/>
                </a:solidFill>
              </a:defRPr>
            </a:pPr>
            <a:r>
              <a:t>MASTER TRAINING PROJECT  •  IIT KHARAGPUR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C193A"/>
                </a:solidFill>
              </a:defRPr>
            </a:pPr>
            <a:r>
              <a:t>Error-Triggered Online Update &amp; MPC Controller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5912" cy="25400"/>
          </a:xfrm>
          <a:prstGeom prst="rect">
            <a:avLst/>
          </a:prstGeom>
          <a:solidFill>
            <a:srgbClr val="788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303520" cy="2560320"/>
          </a:xfrm>
          <a:prstGeom prst="roundRect">
            <a:avLst/>
          </a:prstGeom>
          <a:solidFill>
            <a:srgbClr val="E6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1200"/>
              </a:spcAft>
              <a:defRPr sz="1800" b="1">
                <a:solidFill>
                  <a:srgbClr val="0C193A"/>
                </a:solidFill>
              </a:defRPr>
            </a:pPr>
            <a:r>
              <a:t>Error-Triggered Mechanism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→  Prediction error: E_RNN(t) = MSE(PIRNN prediction, plant state)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→  Threshold: E_T = 1 × 10⁻⁴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→  Trigger: E_RNN &gt; E_T for 3 consecutive steps → online update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→  Update: 50 Adam steps (lr = 10⁻³) on recent history (5 states, 4 inputs)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→  Joint estimation: model weights AND process parameters (F, k₀)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56632" cy="2560320"/>
          </a:xfrm>
          <a:prstGeom prst="roundRect">
            <a:avLst/>
          </a:prstGeom>
          <a:solidFill>
            <a:srgbClr val="E6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1200"/>
              </a:spcAft>
              <a:defRPr sz="1800" b="1">
                <a:solidFill>
                  <a:srgbClr val="0C193A"/>
                </a:solidFill>
              </a:defRPr>
            </a:pPr>
            <a:r>
              <a:t>MPC Objective Function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▸  min  w_CA·ΔCₐ²  +  w_T·(ΔT/100)²  +  w_u1·ΔCₐ₀²  +  w_u2·ΔQ²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▸  w_CA = 10.0  |  w_T = 1.0  |  w_u1 = 0.1  |  w_u2 = 10⁻¹⁰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▸  Solver: SLSQP, maxiter = 50, ftol = 10⁻⁴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▸  Single-step prediction horizon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338328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400"/>
              </a:spcAft>
              <a:defRPr sz="1000" b="1">
                <a:solidFill>
                  <a:srgbClr val="DC4646"/>
                </a:solidFill>
              </a:defRPr>
            </a:pPr>
            <a:r>
              <a:t>Scheme 1</a:t>
            </a:r>
          </a:p>
          <a:p>
            <a:pPr>
              <a:spcAft>
                <a:spcPts val="800"/>
              </a:spcAft>
              <a:defRPr sz="1600" b="1">
                <a:solidFill>
                  <a:srgbClr val="0C193A"/>
                </a:solidFill>
              </a:defRPr>
            </a:pPr>
            <a:r>
              <a:t>Static Baseline</a:t>
            </a:r>
          </a:p>
          <a:p>
            <a:pPr>
              <a:defRPr sz="1200">
                <a:solidFill>
                  <a:srgbClr val="373C48"/>
                </a:solidFill>
              </a:defRPr>
            </a:pPr>
            <a:r>
              <a:t>No online updates.</a:t>
            </a:r>
            <a:br/>
            <a:r>
              <a:t>Nominal model used</a:t>
            </a:r>
            <a:br/>
            <a:r>
              <a:t>throughout.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4389120"/>
            <a:ext cx="338328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400"/>
              </a:spcAft>
              <a:defRPr sz="1000" b="1">
                <a:solidFill>
                  <a:srgbClr val="FFAA32"/>
                </a:solidFill>
              </a:defRPr>
            </a:pPr>
            <a:r>
              <a:t>Scheme 2</a:t>
            </a:r>
          </a:p>
          <a:p>
            <a:pPr>
              <a:spcAft>
                <a:spcPts val="800"/>
              </a:spcAft>
              <a:defRPr sz="1600" b="1">
                <a:solidFill>
                  <a:srgbClr val="0C193A"/>
                </a:solidFill>
              </a:defRPr>
            </a:pPr>
            <a:r>
              <a:t>Data-Only Online</a:t>
            </a:r>
          </a:p>
          <a:p>
            <a:pPr>
              <a:defRPr sz="1200">
                <a:solidFill>
                  <a:srgbClr val="373C48"/>
                </a:solidFill>
              </a:defRPr>
            </a:pPr>
            <a:r>
              <a:t>Error-triggered update</a:t>
            </a:r>
            <a:br/>
            <a:r>
              <a:t>with data MSE loss</a:t>
            </a:r>
            <a:br/>
            <a:r>
              <a:t>only (no physics).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389120"/>
            <a:ext cx="338328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B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400"/>
              </a:spcAft>
              <a:defRPr sz="1000" b="1">
                <a:solidFill>
                  <a:srgbClr val="22B455"/>
                </a:solidFill>
              </a:defRPr>
            </a:pPr>
            <a:r>
              <a:t>Scheme 3</a:t>
            </a:r>
          </a:p>
          <a:p>
            <a:pPr>
              <a:spcAft>
                <a:spcPts val="800"/>
              </a:spcAft>
              <a:defRPr sz="1600" b="1">
                <a:solidFill>
                  <a:srgbClr val="0C193A"/>
                </a:solidFill>
              </a:defRPr>
            </a:pPr>
            <a:r>
              <a:t>Proposed Method</a:t>
            </a:r>
          </a:p>
          <a:p>
            <a:pPr>
              <a:defRPr sz="1200">
                <a:solidFill>
                  <a:srgbClr val="373C48"/>
                </a:solidFill>
              </a:defRPr>
            </a:pPr>
            <a:r>
              <a:t>Error-triggered update</a:t>
            </a:r>
            <a:br/>
            <a:r>
              <a:t>with hybrid loss:</a:t>
            </a:r>
            <a:br/>
            <a:r>
              <a:t>L_data + η·L_physics.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9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25603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64C8"/>
                </a:solidFill>
              </a:defRPr>
            </a:pPr>
            <a:r>
              <a:t>MASTER TRAINING PROJECT  •  IIT KHARAGPUR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C193A"/>
                </a:solidFill>
              </a:defRPr>
            </a:pPr>
            <a:r>
              <a:t>Results — Closed-Loop State Trajectories (Figure 4)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5912" cy="25400"/>
          </a:xfrm>
          <a:prstGeom prst="rect">
            <a:avLst/>
          </a:prstGeom>
          <a:solidFill>
            <a:srgbClr val="788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osed_loop_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772400" cy="6217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0" y="1371600"/>
            <a:ext cx="3108960" cy="5029200"/>
          </a:xfrm>
          <a:prstGeom prst="roundRect">
            <a:avLst/>
          </a:prstGeom>
          <a:solidFill>
            <a:srgbClr val="E6EDF8"/>
          </a:solidFill>
          <a:ln w="15240">
            <a:solidFill>
              <a:srgbClr val="1E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0C193A"/>
                </a:solidFill>
              </a:defRPr>
            </a:pPr>
            <a:r>
              <a:t>Key Observations</a:t>
            </a:r>
          </a:p>
          <a:p>
            <a:pPr>
              <a:spcAft>
                <a:spcPts val="800"/>
              </a:spcAft>
              <a:defRPr sz="1100">
                <a:solidFill>
                  <a:srgbClr val="373C48"/>
                </a:solidFill>
              </a:defRPr>
            </a:pPr>
            <a:r>
              <a:t>▸  Pre-disturbance: All 3 schemes hold near-zero deviation — nominal PIRNN is accurate.</a:t>
            </a:r>
          </a:p>
          <a:p>
            <a:pPr>
              <a:spcAft>
                <a:spcPts val="800"/>
              </a:spcAft>
              <a:defRPr sz="1100">
                <a:solidFill>
                  <a:srgbClr val="373C48"/>
                </a:solidFill>
              </a:defRPr>
            </a:pPr>
            <a:r>
              <a:t>▸  Post t=0.09h: All schemes begin deviating as plant parameters shift.</a:t>
            </a:r>
          </a:p>
          <a:p>
            <a:pPr>
              <a:spcAft>
                <a:spcPts val="800"/>
              </a:spcAft>
              <a:defRPr sz="1100">
                <a:solidFill>
                  <a:srgbClr val="373C48"/>
                </a:solidFill>
              </a:defRPr>
            </a:pPr>
            <a:r>
              <a:t>▸  Post t=0.19h: Severe disturbance (F=230%, k₀=30%) causes large state excursions.</a:t>
            </a:r>
          </a:p>
          <a:p>
            <a:pPr>
              <a:spcAft>
                <a:spcPts val="800"/>
              </a:spcAft>
              <a:defRPr sz="1100">
                <a:solidFill>
                  <a:srgbClr val="373C48"/>
                </a:solidFill>
              </a:defRPr>
            </a:pPr>
            <a:r>
              <a:t>▸  Online schemes achieve better ΔT control (6.5% IAE improvement) but larger ΔCₐ deviation.</a:t>
            </a:r>
          </a:p>
          <a:p>
            <a:pPr>
              <a:spcAft>
                <a:spcPts val="800"/>
              </a:spcAft>
              <a:defRPr sz="1100">
                <a:solidFill>
                  <a:srgbClr val="373C48"/>
                </a:solidFill>
              </a:defRPr>
            </a:pPr>
            <a:r>
              <a:t>▸  Physics-enhanced and data-only schemes are nearly identical visually.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9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25603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64C8"/>
                </a:solidFill>
              </a:defRPr>
            </a:pPr>
            <a:r>
              <a:t>MASTER TRAINING PROJECT  •  IIT KHARAGPUR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C193A"/>
                </a:solidFill>
              </a:defRPr>
            </a:pPr>
            <a:r>
              <a:t>Results — Control Actions Applied (Figure 5)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5912" cy="25400"/>
          </a:xfrm>
          <a:prstGeom prst="rect">
            <a:avLst/>
          </a:prstGeom>
          <a:solidFill>
            <a:srgbClr val="788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trol_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772400" cy="6217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0" y="1371600"/>
            <a:ext cx="3108960" cy="5029200"/>
          </a:xfrm>
          <a:prstGeom prst="roundRect">
            <a:avLst/>
          </a:prstGeom>
          <a:solidFill>
            <a:srgbClr val="E6EDF8"/>
          </a:solidFill>
          <a:ln w="15240">
            <a:solidFill>
              <a:srgbClr val="1E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0C193A"/>
                </a:solidFill>
              </a:defRPr>
            </a:pPr>
            <a:r>
              <a:t>Key Observations</a:t>
            </a:r>
          </a:p>
          <a:p>
            <a:pPr>
              <a:spcAft>
                <a:spcPts val="800"/>
              </a:spcAft>
              <a:defRPr sz="1100">
                <a:solidFill>
                  <a:srgbClr val="373C48"/>
                </a:solidFill>
              </a:defRPr>
            </a:pPr>
            <a:r>
              <a:t>▸  All control inputs remain within physical saturation bounds.</a:t>
            </a:r>
          </a:p>
          <a:p>
            <a:pPr>
              <a:spcAft>
                <a:spcPts val="800"/>
              </a:spcAft>
              <a:defRPr sz="1100">
                <a:solidFill>
                  <a:srgbClr val="373C48"/>
                </a:solidFill>
              </a:defRPr>
            </a:pPr>
            <a:r>
              <a:t>▸  Control magnitudes are small: ΔCₐ₀ ≈ 10⁻³, ΔQ ≈ 10⁻⁶ × 10⁵.</a:t>
            </a:r>
          </a:p>
          <a:p>
            <a:pPr>
              <a:spcAft>
                <a:spcPts val="800"/>
              </a:spcAft>
              <a:defRPr sz="1100">
                <a:solidFill>
                  <a:srgbClr val="373C48"/>
                </a:solidFill>
              </a:defRPr>
            </a:pPr>
            <a:r>
              <a:t>▸  No-update scheme produces most oscillatory feed concentration control.</a:t>
            </a:r>
          </a:p>
          <a:p>
            <a:pPr>
              <a:spcAft>
                <a:spcPts val="800"/>
              </a:spcAft>
              <a:defRPr sz="1100">
                <a:solidFill>
                  <a:srgbClr val="373C48"/>
                </a:solidFill>
              </a:defRPr>
            </a:pPr>
            <a:r>
              <a:t>▸  Largest ΔQ spike from static model after second disturbance.</a:t>
            </a:r>
          </a:p>
          <a:p>
            <a:pPr>
              <a:spcAft>
                <a:spcPts val="800"/>
              </a:spcAft>
              <a:defRPr sz="1100">
                <a:solidFill>
                  <a:srgbClr val="373C48"/>
                </a:solidFill>
              </a:defRPr>
            </a:pPr>
            <a:r>
              <a:t>▸  Online schemes produce smoother, more conservative actions.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9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25603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64C8"/>
                </a:solidFill>
              </a:defRPr>
            </a:pPr>
            <a:r>
              <a:t>MASTER TRAINING PROJECT  •  IIT KHARAGPUR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C193A"/>
                </a:solidFill>
              </a:defRPr>
            </a:pPr>
            <a:r>
              <a:t>Results — Moving-Horizon Prediction Error (Figure 6)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5912" cy="25400"/>
          </a:xfrm>
          <a:prstGeom prst="rect">
            <a:avLst/>
          </a:prstGeom>
          <a:solidFill>
            <a:srgbClr val="788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ving_horizon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772400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0" y="1371600"/>
            <a:ext cx="3108960" cy="5029200"/>
          </a:xfrm>
          <a:prstGeom prst="roundRect">
            <a:avLst/>
          </a:prstGeom>
          <a:solidFill>
            <a:srgbClr val="E6EDF8"/>
          </a:solidFill>
          <a:ln w="15240">
            <a:solidFill>
              <a:srgbClr val="1E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0C193A"/>
                </a:solidFill>
              </a:defRPr>
            </a:pPr>
            <a:r>
              <a:t>Key Observations</a:t>
            </a:r>
          </a:p>
          <a:p>
            <a:pPr>
              <a:spcAft>
                <a:spcPts val="800"/>
              </a:spcAft>
              <a:defRPr sz="1100">
                <a:solidFill>
                  <a:srgbClr val="373C48"/>
                </a:solidFill>
              </a:defRPr>
            </a:pPr>
            <a:r>
              <a:t>▸  All errors &gt; threshold E_T = 10⁻⁴ — error-triggered mechanism fires frequently.</a:t>
            </a:r>
          </a:p>
          <a:p>
            <a:pPr>
              <a:spcAft>
                <a:spcPts val="800"/>
              </a:spcAft>
              <a:defRPr sz="1100">
                <a:solidFill>
                  <a:srgbClr val="373C48"/>
                </a:solidFill>
              </a:defRPr>
            </a:pPr>
            <a:r>
              <a:t>▸  Static model error peaks at ~30 MSE — confirms model-plant mismatch.</a:t>
            </a:r>
          </a:p>
          <a:p>
            <a:pPr>
              <a:spcAft>
                <a:spcPts val="800"/>
              </a:spcAft>
              <a:defRPr sz="1100">
                <a:solidFill>
                  <a:srgbClr val="373C48"/>
                </a:solidFill>
              </a:defRPr>
            </a:pPr>
            <a:r>
              <a:t>▸  Data-online achieves lowest mean error: 1.22 (vs. 18.97 static).</a:t>
            </a:r>
          </a:p>
          <a:p>
            <a:pPr>
              <a:spcAft>
                <a:spcPts val="800"/>
              </a:spcAft>
              <a:defRPr sz="1100">
                <a:solidFill>
                  <a:srgbClr val="373C48"/>
                </a:solidFill>
              </a:defRPr>
            </a:pPr>
            <a:r>
              <a:t>▸  Physics-enhanced mean error: 1.55 — 92% reduction vs. static baseline.</a:t>
            </a:r>
          </a:p>
          <a:p>
            <a:pPr>
              <a:spcAft>
                <a:spcPts val="800"/>
              </a:spcAft>
              <a:defRPr sz="1100">
                <a:solidFill>
                  <a:srgbClr val="373C48"/>
                </a:solidFill>
              </a:defRPr>
            </a:pPr>
            <a:r>
              <a:t>▸  Sharp spikes at disturbance onset times with partial recovery for online schemes.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9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25603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64C8"/>
                </a:solidFill>
              </a:defRPr>
            </a:pPr>
            <a:r>
              <a:t>MASTER TRAINING PROJECT  •  IIT KHARAGPUR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C193A"/>
                </a:solidFill>
              </a:defRPr>
            </a:pPr>
            <a:r>
              <a:t>Quantitative Performance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5912" cy="25400"/>
          </a:xfrm>
          <a:prstGeom prst="rect">
            <a:avLst/>
          </a:prstGeom>
          <a:solidFill>
            <a:srgbClr val="788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591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478"/>
                <a:gridCol w="2681478"/>
                <a:gridCol w="2681478"/>
                <a:gridCol w="2681478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C19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PIRNN_no_update</a:t>
                      </a:r>
                    </a:p>
                  </a:txBody>
                  <a:tcPr>
                    <a:solidFill>
                      <a:srgbClr val="0C19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PIRNN_data_online</a:t>
                      </a:r>
                    </a:p>
                  </a:txBody>
                  <a:tcPr>
                    <a:solidFill>
                      <a:srgbClr val="0C19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PIRNN_physics_enhanced</a:t>
                      </a:r>
                    </a:p>
                  </a:txBody>
                  <a:tcPr>
                    <a:solidFill>
                      <a:srgbClr val="0C193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IAE (Cₐ)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B455"/>
                          </a:solidFill>
                        </a:defRPr>
                      </a:pPr>
                      <a:r>
                        <a:t>0.0811 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0.1896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0.1914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IAE (T)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10.1515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9.4938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B455"/>
                          </a:solidFill>
                        </a:defRPr>
                      </a:pPr>
                      <a:r>
                        <a:t>9.4886  ★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ISE (Cₐ)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B455"/>
                          </a:solidFill>
                        </a:defRPr>
                      </a:pPr>
                      <a:r>
                        <a:t>0.0571 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0.2246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0.2294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ISE (T)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630.79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562.94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B455"/>
                          </a:solidFill>
                        </a:defRPr>
                      </a:pPr>
                      <a:r>
                        <a:t>562.36  ★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Mean E_RNN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18.97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B455"/>
                          </a:solidFill>
                        </a:defRPr>
                      </a:pPr>
                      <a:r>
                        <a:t>1.22 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1.55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663440"/>
            <a:ext cx="5303520" cy="1645920"/>
          </a:xfrm>
          <a:prstGeom prst="roundRect">
            <a:avLst/>
          </a:prstGeom>
          <a:solidFill>
            <a:srgbClr val="E6F8F0"/>
          </a:solidFill>
          <a:ln w="15240">
            <a:solidFill>
              <a:srgbClr val="22B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800"/>
              </a:spcAft>
              <a:defRPr sz="1600" b="1">
                <a:solidFill>
                  <a:srgbClr val="0C193A"/>
                </a:solidFill>
              </a:defRPr>
            </a:pPr>
            <a:r>
              <a:t>✓  Physics-Enhanced vs. Static Baseline</a:t>
            </a:r>
          </a:p>
          <a:p>
            <a:pPr>
              <a:spcAft>
                <a:spcPts val="400"/>
              </a:spcAft>
              <a:defRPr sz="1200">
                <a:solidFill>
                  <a:srgbClr val="373C48"/>
                </a:solidFill>
              </a:defRPr>
            </a:pPr>
            <a:r>
              <a:t>  ✓  Temperature IAE:  +6.53% improvement  (better tracking)</a:t>
            </a:r>
          </a:p>
          <a:p>
            <a:pPr>
              <a:spcAft>
                <a:spcPts val="400"/>
              </a:spcAft>
              <a:defRPr sz="1200">
                <a:solidFill>
                  <a:srgbClr val="373C48"/>
                </a:solidFill>
              </a:defRPr>
            </a:pPr>
            <a:r>
              <a:t>  ✓  Temperature ISE:  +10.85% improvement  (lower peak errors)</a:t>
            </a:r>
          </a:p>
          <a:p>
            <a:pPr>
              <a:spcAft>
                <a:spcPts val="400"/>
              </a:spcAft>
              <a:defRPr sz="1200">
                <a:solidFill>
                  <a:srgbClr val="373C48"/>
                </a:solidFill>
              </a:defRPr>
            </a:pPr>
            <a:r>
              <a:t>  ✓  Prediction Error:  +91.83% reduction  (model accuracy)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663440"/>
            <a:ext cx="5056632" cy="1645920"/>
          </a:xfrm>
          <a:prstGeom prst="roundRect">
            <a:avLst/>
          </a:prstGeom>
          <a:solidFill>
            <a:srgbClr val="FFF0F0"/>
          </a:solidFill>
          <a:ln w="15240"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800"/>
              </a:spcAft>
              <a:defRPr sz="1600" b="1">
                <a:solidFill>
                  <a:srgbClr val="0C193A"/>
                </a:solidFill>
              </a:defRPr>
            </a:pPr>
            <a:r>
              <a:t>⚠  Concentration Control Trade-off</a:t>
            </a:r>
          </a:p>
          <a:p>
            <a:pPr>
              <a:spcAft>
                <a:spcPts val="400"/>
              </a:spcAft>
              <a:defRPr sz="1200">
                <a:solidFill>
                  <a:srgbClr val="373C48"/>
                </a:solidFill>
              </a:defRPr>
            </a:pPr>
            <a:r>
              <a:t>  ⚠  Concentration IAE:  −136% (larger deviation than static)</a:t>
            </a:r>
          </a:p>
          <a:p>
            <a:pPr>
              <a:spcAft>
                <a:spcPts val="400"/>
              </a:spcAft>
              <a:defRPr sz="1200">
                <a:solidFill>
                  <a:srgbClr val="373C48"/>
                </a:solidFill>
              </a:defRPr>
            </a:pPr>
            <a:r>
              <a:t>  ⚠  Online updates alter model landscape, affecting MPC trajectory</a:t>
            </a:r>
          </a:p>
          <a:p>
            <a:pPr>
              <a:spcAft>
                <a:spcPts val="400"/>
              </a:spcAft>
              <a:defRPr sz="1200">
                <a:solidFill>
                  <a:srgbClr val="373C48"/>
                </a:solidFill>
              </a:defRPr>
            </a:pPr>
            <a:r>
              <a:t>  ⚠  Root cause: MPC weight tuning &amp; under-utilized control authority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9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25603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64C8"/>
                </a:solidFill>
              </a:defRPr>
            </a:pPr>
            <a:r>
              <a:t>MASTER TRAINING PROJECT  •  IIT KHARAGPUR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C193A"/>
                </a:solidFill>
              </a:defRPr>
            </a:pPr>
            <a:r>
              <a:t>Online Parameter Estimation 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5912" cy="25400"/>
          </a:xfrm>
          <a:prstGeom prst="rect">
            <a:avLst/>
          </a:prstGeom>
          <a:solidFill>
            <a:srgbClr val="788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591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652"/>
                <a:gridCol w="1787652"/>
                <a:gridCol w="1787652"/>
                <a:gridCol w="1787652"/>
                <a:gridCol w="1787652"/>
                <a:gridCol w="1787652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C19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True F (m³/h)</a:t>
                      </a:r>
                    </a:p>
                  </a:txBody>
                  <a:tcPr>
                    <a:solidFill>
                      <a:srgbClr val="0C19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Est. F</a:t>
                      </a:r>
                    </a:p>
                  </a:txBody>
                  <a:tcPr>
                    <a:solidFill>
                      <a:srgbClr val="0C19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True k₀</a:t>
                      </a:r>
                    </a:p>
                  </a:txBody>
                  <a:tcPr>
                    <a:solidFill>
                      <a:srgbClr val="0C19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Est. k₀</a:t>
                      </a:r>
                    </a:p>
                  </a:txBody>
                  <a:tcPr>
                    <a:solidFill>
                      <a:srgbClr val="0C19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C19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Nominal (t &lt; 0.09h)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8.46×10⁶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8.46×10⁶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B455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Moderate (t = 0.09h)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8.00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7.99–8.00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6.77×10⁶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6.77×10⁶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B455"/>
                          </a:solidFill>
                        </a:defRPr>
                      </a:pPr>
                      <a:r>
                        <a:t>&gt;99.88%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Severe (t = 0.19h)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11.50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11.49–11.50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2.54×10⁶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73C48"/>
                          </a:solidFill>
                        </a:defRPr>
                      </a:pPr>
                      <a:r>
                        <a:t>2.54×10⁶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B455"/>
                          </a:solidFill>
                        </a:defRPr>
                      </a:pPr>
                      <a:r>
                        <a:t>&gt;99.91%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840480"/>
            <a:ext cx="5303520" cy="2468880"/>
          </a:xfrm>
          <a:prstGeom prst="roundRect">
            <a:avLst/>
          </a:prstGeom>
          <a:solidFill>
            <a:srgbClr val="E6EDF8"/>
          </a:solidFill>
          <a:ln w="15240">
            <a:solidFill>
              <a:srgbClr val="1E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1200"/>
              </a:spcAft>
              <a:defRPr sz="1800" b="1">
                <a:solidFill>
                  <a:srgbClr val="0C193A"/>
                </a:solidFill>
              </a:defRPr>
            </a:pPr>
            <a:r>
              <a:t>⏱  Online Update Timing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200">
                <a:solidFill>
                  <a:srgbClr val="373C48"/>
                </a:solidFill>
              </a:defRPr>
            </a:pPr>
            <a:r>
              <a:t>▸  Data-only updates:  ~1.17s mean  (10 total updates)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200">
                <a:solidFill>
                  <a:srgbClr val="373C48"/>
                </a:solidFill>
              </a:defRPr>
            </a:pPr>
            <a:r>
              <a:t>▸  Physics-enhanced:  ~1.22s mean  (10 total updates)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200">
                <a:solidFill>
                  <a:srgbClr val="373C48"/>
                </a:solidFill>
              </a:defRPr>
            </a:pPr>
            <a:r>
              <a:t>▸  Physics overhead:  ~4% additional compute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200">
                <a:solidFill>
                  <a:srgbClr val="373C48"/>
                </a:solidFill>
              </a:defRPr>
            </a:pPr>
            <a:r>
              <a:t>▸  Sampling period limit:  36s  →  ample real-time margin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200">
                <a:solidFill>
                  <a:srgbClr val="373C48"/>
                </a:solidFill>
              </a:defRPr>
            </a:pPr>
            <a:r>
              <a:t>▸  Both schemes:  total online time &lt; 13 seconds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840480"/>
            <a:ext cx="5056632" cy="2468880"/>
          </a:xfrm>
          <a:prstGeom prst="roundRect">
            <a:avLst/>
          </a:prstGeom>
          <a:solidFill>
            <a:srgbClr val="E6F8F0"/>
          </a:solidFill>
          <a:ln w="15240">
            <a:solidFill>
              <a:srgbClr val="22B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1200"/>
              </a:spcAft>
              <a:defRPr sz="1800" b="1">
                <a:solidFill>
                  <a:srgbClr val="0C193A"/>
                </a:solidFill>
              </a:defRPr>
            </a:pPr>
            <a:r>
              <a:t>🏆  Key Result</a:t>
            </a:r>
          </a:p>
          <a:p>
            <a:pPr>
              <a:spcAft>
                <a:spcPts val="400"/>
              </a:spcAft>
              <a:defRPr sz="1200">
                <a:solidFill>
                  <a:srgbClr val="373C48"/>
                </a:solidFill>
              </a:defRPr>
            </a:pPr>
            <a:r>
              <a:t>Both online schemes achieve &gt;99.8% parameter estimation accuracy within 50 gradient steps (~1s).</a:t>
            </a:r>
          </a:p>
          <a:p>
            <a:pPr>
              <a:spcAft>
                <a:spcPts val="400"/>
              </a:spcAft>
              <a:defRPr sz="1200">
                <a:solidFill>
                  <a:srgbClr val="373C48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73C48"/>
                </a:solidFill>
              </a:defRPr>
            </a:pPr>
            <a:r>
              <a:t>Even under severe disturbance (F at 230%, k₀ at 30% of nominal), the joint optimization recovers true parameters to 4 significant figures.</a:t>
            </a:r>
          </a:p>
          <a:p>
            <a:pPr>
              <a:spcAft>
                <a:spcPts val="400"/>
              </a:spcAft>
              <a:defRPr sz="1200">
                <a:solidFill>
                  <a:srgbClr val="373C48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73C48"/>
                </a:solidFill>
              </a:defRPr>
            </a:pPr>
            <a:r>
              <a:t>This validates the PIRNN as a viable real-time surrogate for online MPC.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9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25603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64C8"/>
                </a:solidFill>
              </a:defRPr>
            </a:pPr>
            <a:r>
              <a:t>MASTER TRAINING PROJECT  •  IIT KHARAGPUR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C193A"/>
                </a:solidFill>
              </a:defRPr>
            </a:pPr>
            <a:r>
              <a:t>Analysis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5912" cy="25400"/>
          </a:xfrm>
          <a:prstGeom prst="rect">
            <a:avLst/>
          </a:prstGeom>
          <a:solidFill>
            <a:srgbClr val="788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303520" cy="2377440"/>
          </a:xfrm>
          <a:prstGeom prst="roundRect">
            <a:avLst/>
          </a:prstGeom>
          <a:solidFill>
            <a:srgbClr val="FFF5EB"/>
          </a:solidFill>
          <a:ln w="1524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1200"/>
              </a:spcAft>
              <a:defRPr sz="1800" b="1">
                <a:solidFill>
                  <a:srgbClr val="0C193A"/>
                </a:solidFill>
              </a:defRPr>
            </a:pPr>
            <a:r>
              <a:t>Concentration vs. Temperature Trade-off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▸  Online update modifies model to prioritize thermal dynamics (coupled through Arrhenius term).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▸  MPC weights (w_CA=10, w_T=1) penalize concentration heavily, but updated model's altered prediction landscape shifts controller behavior.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▸  Result: better temperature tracking at the expense of concentration.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56632" cy="2377440"/>
          </a:xfrm>
          <a:prstGeom prst="roundRect">
            <a:avLst/>
          </a:prstGeom>
          <a:solidFill>
            <a:srgbClr val="E6EDF8"/>
          </a:solidFill>
          <a:ln w="15240">
            <a:solidFill>
              <a:srgbClr val="1E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1200"/>
              </a:spcAft>
              <a:defRPr sz="1800" b="1">
                <a:solidFill>
                  <a:srgbClr val="0C193A"/>
                </a:solidFill>
              </a:defRPr>
            </a:pPr>
            <a:r>
              <a:t>Physics vs. Data-Only: Why So Similar?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▸  IAE difference: &lt; 1% between the two online schemes.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▸  With only 50 gradient steps and 5-state history window, physics regularization has limited opportunity to differentiate.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▸  Parameter estimation accuracy is equally excellent for both — the data signal dominates.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303520" cy="2286000"/>
          </a:xfrm>
          <a:prstGeom prst="roundRect">
            <a:avLst/>
          </a:prstGeom>
          <a:solidFill>
            <a:srgbClr val="E6EDF8"/>
          </a:solidFill>
          <a:ln w="15240">
            <a:solidFill>
              <a:srgbClr val="1E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1200"/>
              </a:spcAft>
              <a:defRPr sz="1800" b="1">
                <a:solidFill>
                  <a:srgbClr val="0C193A"/>
                </a:solidFill>
              </a:defRPr>
            </a:pPr>
            <a:r>
              <a:t>Prediction Error Dynamics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▸  All errors remain &gt;&gt; threshold E_T = 10⁻⁴ → continuous triggering.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▸  92% mean error reduction with online updates validates the mechanism.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▸  Model capacity (31K params) may be insufficient for severe disturbance regime.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114800"/>
            <a:ext cx="5056632" cy="2286000"/>
          </a:xfrm>
          <a:prstGeom prst="roundRect">
            <a:avLst/>
          </a:prstGeom>
          <a:solidFill>
            <a:srgbClr val="FFF0F0"/>
          </a:solidFill>
          <a:ln w="15240"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1200"/>
              </a:spcAft>
              <a:defRPr sz="1800" b="1">
                <a:solidFill>
                  <a:srgbClr val="0C193A"/>
                </a:solidFill>
              </a:defRPr>
            </a:pPr>
            <a:r>
              <a:t>Control Authority Under-Utilization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⚠  Control actions are 3–4 orders of magnitude below physical limits.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⚠  ΔCₐ₀ ≈ 10⁻³ vs. limit of 3.5  |  ΔQ ≈ 10⁻¹ vs. limit of 5×10⁵.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⚠  SLSQP with 50 iterations may converge to local minima near zero initial guess.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9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25603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64C8"/>
                </a:solidFill>
              </a:defRPr>
            </a:pPr>
            <a:r>
              <a:t>MASTER TRAINING PROJECT  •  IIT KHARAGPUR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C193A"/>
                </a:solidFill>
              </a:defRPr>
            </a:pPr>
            <a:r>
              <a:t>Implementation &amp; Codebase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5912" cy="25400"/>
          </a:xfrm>
          <a:prstGeom prst="rect">
            <a:avLst/>
          </a:prstGeom>
          <a:solidFill>
            <a:srgbClr val="788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6858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0C19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0C19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C193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73C48"/>
                          </a:solidFill>
                          <a:latin typeface="Courier New"/>
                        </a:defRPr>
                      </a:pPr>
                      <a:r>
                        <a:t>config.py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73C48"/>
                          </a:solidFill>
                        </a:defRPr>
                      </a:pPr>
                      <a:r>
                        <a:t>57 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73C48"/>
                          </a:solidFill>
                        </a:defRPr>
                      </a:pPr>
                      <a:r>
                        <a:t>All hyperparameters &amp; CSTR physical constants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73C48"/>
                          </a:solidFill>
                          <a:latin typeface="Courier New"/>
                        </a:defRPr>
                      </a:pPr>
                      <a:r>
                        <a:t>cstr_env.py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73C48"/>
                          </a:solidFill>
                        </a:defRPr>
                      </a:pPr>
                      <a:r>
                        <a:t>88 lines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73C48"/>
                          </a:solidFill>
                        </a:defRPr>
                      </a:pPr>
                      <a:r>
                        <a:t>Plant simulator — SciPy ODE integration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73C48"/>
                          </a:solidFill>
                          <a:latin typeface="Courier New"/>
                        </a:defRPr>
                      </a:pPr>
                      <a:r>
                        <a:t>pirnn_model.py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73C48"/>
                          </a:solidFill>
                        </a:defRPr>
                      </a:pPr>
                      <a:r>
                        <a:t>104 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73C48"/>
                          </a:solidFill>
                        </a:defRPr>
                      </a:pPr>
                      <a:r>
                        <a:t>PIRNN architecture + physics residual + hybrid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73C48"/>
                          </a:solidFill>
                          <a:latin typeface="Courier New"/>
                        </a:defRPr>
                      </a:pPr>
                      <a:r>
                        <a:t>train_pirnn.py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73C48"/>
                          </a:solidFill>
                        </a:defRPr>
                      </a:pPr>
                      <a:r>
                        <a:t>176 lines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73C48"/>
                          </a:solidFill>
                        </a:defRPr>
                      </a:pPr>
                      <a:r>
                        <a:t>Offline training with vectorized RK4 data generation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73C48"/>
                          </a:solidFill>
                          <a:latin typeface="Courier New"/>
                        </a:defRPr>
                      </a:pPr>
                      <a:r>
                        <a:t>mpc_controller.py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73C48"/>
                          </a:solidFill>
                        </a:defRPr>
                      </a:pPr>
                      <a:r>
                        <a:t>65 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73C48"/>
                          </a:solidFill>
                        </a:defRPr>
                      </a:pPr>
                      <a:r>
                        <a:t>PIRNN-based MPC with SLSQP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73C48"/>
                          </a:solidFill>
                          <a:latin typeface="Courier New"/>
                        </a:defRPr>
                      </a:pPr>
                      <a:r>
                        <a:t>run_closed_loop_simulation.py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73C48"/>
                          </a:solidFill>
                        </a:defRPr>
                      </a:pPr>
                      <a:r>
                        <a:t>236 lines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73C48"/>
                          </a:solidFill>
                        </a:defRPr>
                      </a:pPr>
                      <a:r>
                        <a:t>3-scheme comparison simulation + plotting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73C48"/>
                          </a:solidFill>
                          <a:latin typeface="Courier New"/>
                        </a:defRPr>
                      </a:pPr>
                      <a:r>
                        <a:t>evaluate_metrics.py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73C48"/>
                          </a:solidFill>
                        </a:defRPr>
                      </a:pPr>
                      <a:r>
                        <a:t>70 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73C48"/>
                          </a:solidFill>
                        </a:defRPr>
                      </a:pPr>
                      <a:r>
                        <a:t>Quantitative IAE/ISE metric computation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955279" y="1463040"/>
            <a:ext cx="3502152" cy="3474720"/>
          </a:xfrm>
          <a:prstGeom prst="roundRect">
            <a:avLst/>
          </a:prstGeom>
          <a:solidFill>
            <a:srgbClr val="0C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1200"/>
              </a:spcAft>
              <a:defRPr sz="1800" b="1">
                <a:solidFill>
                  <a:srgbClr val="00B4D8"/>
                </a:solidFill>
              </a:defRPr>
            </a:pPr>
            <a:r>
              <a:t>Tech Stack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 Python 3.x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 PyTorch (MPS backend)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 SciPy (solve_ivp, minimize)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 NumPy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 Matplotlib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 python-pptx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 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 Total:  ~796 lines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 Model:  128.1 KB checkpoint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2468880" cy="1097280"/>
          </a:xfrm>
          <a:prstGeom prst="roundRect">
            <a:avLst/>
          </a:prstGeom>
          <a:solidFill>
            <a:srgbClr val="E6EDF8"/>
          </a:solidFill>
          <a:ln w="15240">
            <a:solidFill>
              <a:srgbClr val="1E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274320" bIns="137160"/>
          <a:lstStyle/>
          <a:p>
            <a:pPr algn="ctr">
              <a:spcAft>
                <a:spcPts val="200"/>
              </a:spcAft>
              <a:defRPr sz="2400" b="1">
                <a:solidFill>
                  <a:srgbClr val="1E64C8"/>
                </a:solidFill>
              </a:defRPr>
            </a:pPr>
            <a:r>
              <a:t>31,586</a:t>
            </a:r>
          </a:p>
          <a:p>
            <a:pPr algn="ctr">
              <a:defRPr sz="1100">
                <a:solidFill>
                  <a:srgbClr val="373C48"/>
                </a:solidFill>
              </a:defRPr>
            </a:pPr>
            <a:r>
              <a:t>Model Parameters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5212080"/>
            <a:ext cx="2468880" cy="1097280"/>
          </a:xfrm>
          <a:prstGeom prst="roundRect">
            <a:avLst/>
          </a:prstGeom>
          <a:solidFill>
            <a:srgbClr val="E6EDF8"/>
          </a:solidFill>
          <a:ln w="15240">
            <a:solidFill>
              <a:srgbClr val="1E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274320" bIns="137160"/>
          <a:lstStyle/>
          <a:p>
            <a:pPr algn="ctr">
              <a:spcAft>
                <a:spcPts val="200"/>
              </a:spcAft>
              <a:defRPr sz="2400" b="1">
                <a:solidFill>
                  <a:srgbClr val="1E64C8"/>
                </a:solidFill>
              </a:defRPr>
            </a:pPr>
            <a:r>
              <a:t>80,000</a:t>
            </a:r>
          </a:p>
          <a:p>
            <a:pPr algn="ctr">
              <a:defRPr sz="1100">
                <a:solidFill>
                  <a:srgbClr val="373C48"/>
                </a:solidFill>
              </a:defRPr>
            </a:pPr>
            <a:r>
              <a:t>Training Trajectories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5212080"/>
            <a:ext cx="2468880" cy="1097280"/>
          </a:xfrm>
          <a:prstGeom prst="roundRect">
            <a:avLst/>
          </a:prstGeom>
          <a:solidFill>
            <a:srgbClr val="E6EDF8"/>
          </a:solidFill>
          <a:ln w="15240">
            <a:solidFill>
              <a:srgbClr val="1E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274320" bIns="137160"/>
          <a:lstStyle/>
          <a:p>
            <a:pPr algn="ctr">
              <a:spcAft>
                <a:spcPts val="200"/>
              </a:spcAft>
              <a:defRPr sz="2400" b="1">
                <a:solidFill>
                  <a:srgbClr val="1E64C8"/>
                </a:solidFill>
              </a:defRPr>
            </a:pPr>
            <a:r>
              <a:t>128 KB</a:t>
            </a:r>
          </a:p>
          <a:p>
            <a:pPr algn="ctr">
              <a:defRPr sz="1100">
                <a:solidFill>
                  <a:srgbClr val="373C48"/>
                </a:solidFill>
              </a:defRPr>
            </a:pPr>
            <a:r>
              <a:t>Checkpoint Size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5212080"/>
            <a:ext cx="2468880" cy="1097280"/>
          </a:xfrm>
          <a:prstGeom prst="roundRect">
            <a:avLst/>
          </a:prstGeom>
          <a:solidFill>
            <a:srgbClr val="E6EDF8"/>
          </a:solidFill>
          <a:ln w="15240">
            <a:solidFill>
              <a:srgbClr val="1E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274320" bIns="137160"/>
          <a:lstStyle/>
          <a:p>
            <a:pPr algn="ctr">
              <a:spcAft>
                <a:spcPts val="200"/>
              </a:spcAft>
              <a:defRPr sz="2400" b="1">
                <a:solidFill>
                  <a:srgbClr val="1E64C8"/>
                </a:solidFill>
              </a:defRPr>
            </a:pPr>
            <a:r>
              <a:t>~1s</a:t>
            </a:r>
          </a:p>
          <a:p>
            <a:pPr algn="ctr">
              <a:defRPr sz="1100">
                <a:solidFill>
                  <a:srgbClr val="373C48"/>
                </a:solidFill>
              </a:defRPr>
            </a:pPr>
            <a:r>
              <a:t>Online Update 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9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25603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64C8"/>
                </a:solidFill>
              </a:defRPr>
            </a:pPr>
            <a:r>
              <a:t>MASTER TRAINING PROJECT  •  IIT KHARAGPUR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C193A"/>
                </a:solidFill>
              </a:defRPr>
            </a:pPr>
            <a:r>
              <a:t>Recommendations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5912" cy="25400"/>
          </a:xfrm>
          <a:prstGeom prst="rect">
            <a:avLst/>
          </a:prstGeom>
          <a:solidFill>
            <a:srgbClr val="788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303520" cy="4846320"/>
          </a:xfrm>
          <a:prstGeom prst="roundRect">
            <a:avLst/>
          </a:prstGeom>
          <a:solidFill>
            <a:srgbClr val="E6EDF8"/>
          </a:solidFill>
          <a:ln w="15240">
            <a:solidFill>
              <a:srgbClr val="1E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1200"/>
              </a:spcAft>
              <a:defRPr sz="1800" b="1">
                <a:solidFill>
                  <a:srgbClr val="0C193A"/>
                </a:solidFill>
              </a:defRPr>
            </a:pPr>
            <a:r>
              <a:t>Immediate Improvements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→  Multi-step MPC horizon — use N-step prediction instead of single-step for better foresight.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→  Rebalance MPC weights — w_u2 = 10⁻¹⁰ effectively removes heat input penalty; should be tuned.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→  Expand online history window — 5 states is minimal; 15–20 would give richer adaptation signal.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→  Increase model capacity — hidden_size = 128 or 2-layer GRU for severe disturbance regimes.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→  Adaptive error threshold — replace fixed E_T = 10⁻⁴ with moving-average baseline to prevent continuous triggering.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→  More training epochs — 10 epochs may be insufficient for full convergence; try 50–100 with scheduler.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56632" cy="4846320"/>
          </a:xfrm>
          <a:prstGeom prst="roundRect">
            <a:avLst/>
          </a:prstGeom>
          <a:solidFill>
            <a:srgbClr val="E6F8F0"/>
          </a:solidFill>
          <a:ln w="15240">
            <a:solidFill>
              <a:srgbClr val="22B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1200"/>
              </a:spcAft>
              <a:defRPr sz="1800" b="1">
                <a:solidFill>
                  <a:srgbClr val="0C193A"/>
                </a:solidFill>
              </a:defRPr>
            </a:pPr>
            <a:r>
              <a:t>Master Thesis Extensions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🚀  Multi-reactor networks — extend PIRNN-MPC to cascade reactor systems and distillation columns.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🚀  Measurement noise — integrate Extended Kalman Filter (EKF) for noisy sensor measurements.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🚀  Continuous PINNs — test space-time PINNs with automatic differentiation vs. finite-difference residuals.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🚀  Hardware-in-the-Loop — deploy controller on embedded edge devices for real-time HIL validation.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🚀  Robust MPC — add stochastic uncertainty sets around estimated parameters for safety guarantees.</a:t>
            </a:r>
          </a:p>
          <a:p>
            <a:pPr>
              <a:lnSpc>
                <a:spcPts val="2000"/>
              </a:lnSpc>
              <a:spcAft>
                <a:spcPts val="800"/>
              </a:spcAft>
              <a:defRPr sz="1300">
                <a:solidFill>
                  <a:srgbClr val="373C48"/>
                </a:solidFill>
              </a:defRPr>
            </a:pPr>
            <a:r>
              <a:t>🚀  Transfer learning — pre-train on multiple reactor configurations for faster online adaptation.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9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63500" cy="2743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945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108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</a:defRPr>
            </a:pPr>
            <a:r>
              <a:t>Physics-Informed Online ML for Model Predictive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840480"/>
            <a:ext cx="27432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Devan Singh Faujdar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526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3E6"/>
                </a:solidFill>
              </a:defRPr>
            </a:pPr>
            <a:r>
              <a:t>IIT Kharagpur  •  Department of Chemical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937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C3E6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188720" y="5349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</a:defRPr>
            </a:pPr>
            <a:r>
              <a:t>Questions &amp; Discussion Welcome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286000"/>
            <a:ext cx="3657600" cy="3200400"/>
          </a:xfrm>
          <a:prstGeom prst="roundRect">
            <a:avLst/>
          </a:prstGeom>
          <a:solidFill>
            <a:srgbClr val="0C193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37160"/>
          <a:lstStyle/>
          <a:p>
            <a:pPr algn="ctr">
              <a:spcAft>
                <a:spcPts val="1000"/>
              </a:spcAft>
              <a:defRPr sz="1400" b="1">
                <a:solidFill>
                  <a:srgbClr val="00B4D8"/>
                </a:solidFill>
              </a:defRPr>
            </a:pPr>
            <a:r>
              <a:t>Key Achievements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</a:defRPr>
            </a:pPr>
            <a:r>
              <a:t>✓  Full PIRNN-LMPC framework implemented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</a:defRPr>
            </a:pPr>
            <a:r>
              <a:t>✓  &gt;99.8% parameter estimation accuracy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</a:defRPr>
            </a:pPr>
            <a:r>
              <a:t>✓  92% prediction error reduction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</a:defRPr>
            </a:pPr>
            <a:r>
              <a:t>✓  6.5% temperature control improvement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</a:defRPr>
            </a:pPr>
            <a:r>
              <a:t>✓  Real-time feasible (~1s updates)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</a:defRPr>
            </a:pPr>
            <a:r>
              <a:t>✓  3 comparison schemes evaluated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</a:defRPr>
            </a:pPr>
            <a:r>
              <a:t>✓  Figures 4, 5, 6 reproduced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96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